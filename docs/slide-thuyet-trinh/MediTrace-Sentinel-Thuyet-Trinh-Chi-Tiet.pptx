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(%)</c:v>
                </c:pt>
              </c:strCache>
            </c:strRef>
          </c:tx>
          <c:spPr>
            <a:solidFill>
              <a:srgbClr val="8FA3B5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C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Không có luật trạng thái</c:v>
                  </c:pt>
                  <c:pt idx="1">
                    <c:v>Có luật trạng thái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5.06</c:v>
                </c:pt>
                <c:pt idx="1">
                  <c:v>0.31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6F0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jp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6.png"/><Relationship Id="rId9" Type="http://schemas.openxmlformats.org/officeDocument/2006/relationships/image" Target="../media/image-3-9.png"/><Relationship Id="rId10" Type="http://schemas.openxmlformats.org/officeDocument/2006/relationships/image" Target="../media/image-3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jp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6" Type="http://schemas.openxmlformats.org/officeDocument/2006/relationships/image" Target="../media/image-15-5.png"/><Relationship Id="rId7" Type="http://schemas.openxmlformats.org/officeDocument/2006/relationships/image" Target="../media/image-1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jp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jp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606196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1000" dirty="0"/>
          </a:p>
        </p:txBody>
      </p:sp>
      <p:pic>
        <p:nvPicPr>
          <p:cNvPr id="15" name="Image 3" descr="D:\Claude\meditrace-pitch\assets\glow-teal.png">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303520" y="256032"/>
            <a:ext cx="7315200" cy="7315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1170432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7" name="Image 4" descr="D:\Claude\meditrace-pitch\assets\logo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1197864"/>
            <a:ext cx="1609344" cy="49377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651760" y="126187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2651760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ÁN SÁNG TẠO TRẺ · BẢNG B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40080" y="190195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</a:t>
            </a:r>
            <a:endParaRPr lang="en-US" sz="5400" dirty="0"/>
          </a:p>
        </p:txBody>
      </p:sp>
      <p:sp>
        <p:nvSpPr>
          <p:cNvPr id="21" name="Text 14"/>
          <p:cNvSpPr/>
          <p:nvPr/>
        </p:nvSpPr>
        <p:spPr>
          <a:xfrm>
            <a:off x="640080" y="272491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5400" dirty="0"/>
          </a:p>
        </p:txBody>
      </p:sp>
      <p:sp>
        <p:nvSpPr>
          <p:cNvPr id="22" name="Text 15"/>
          <p:cNvSpPr/>
          <p:nvPr/>
        </p:nvSpPr>
        <p:spPr>
          <a:xfrm>
            <a:off x="640080" y="377647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hỗ trợ tạo và kiểm tra bản nháp hồ sơ lâm sàng từ hội thoại tiếng Việt</a:t>
            </a:r>
            <a:endParaRPr lang="en-US" sz="2100" dirty="0"/>
          </a:p>
        </p:txBody>
      </p:sp>
      <p:sp>
        <p:nvSpPr>
          <p:cNvPr id="23" name="Shape 16"/>
          <p:cNvSpPr/>
          <p:nvPr/>
        </p:nvSpPr>
        <p:spPr>
          <a:xfrm>
            <a:off x="640080" y="4690872"/>
            <a:ext cx="73152" cy="640080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24" name="Text 17"/>
          <p:cNvSpPr/>
          <p:nvPr/>
        </p:nvSpPr>
        <p:spPr>
          <a:xfrm>
            <a:off x="868680" y="46908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thông tin có câu nói làm căn cứ · Triệt tiêu ảo giác của AI trong y tế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40080" y="5513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thi: Aletheia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4008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Xuân Minh Quân · Nguyễn Hoàng Anh — Trường THPT Cầu Giấy, Hà Nội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345936" y="1792224"/>
            <a:ext cx="4480560" cy="2679192"/>
          </a:xfrm>
          <a:prstGeom prst="roundRect">
            <a:avLst>
              <a:gd name="adj" fmla="val 4096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6309360" y="1719072"/>
            <a:ext cx="4480560" cy="2679192"/>
          </a:xfrm>
          <a:prstGeom prst="roundRect">
            <a:avLst>
              <a:gd name="adj" fmla="val 4096"/>
            </a:avLst>
          </a:prstGeom>
          <a:solidFill>
            <a:srgbClr val="EEF3F8"/>
          </a:solidFill>
          <a:ln/>
        </p:spPr>
      </p:sp>
      <p:sp>
        <p:nvSpPr>
          <p:cNvPr id="29" name="Shape 22"/>
          <p:cNvSpPr/>
          <p:nvPr/>
        </p:nvSpPr>
        <p:spPr>
          <a:xfrm>
            <a:off x="6437376" y="1801368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0" name="Shape 23"/>
          <p:cNvSpPr/>
          <p:nvPr/>
        </p:nvSpPr>
        <p:spPr>
          <a:xfrm>
            <a:off x="6601968" y="1801368"/>
            <a:ext cx="91440" cy="9144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31" name="Shape 24"/>
          <p:cNvSpPr/>
          <p:nvPr/>
        </p:nvSpPr>
        <p:spPr>
          <a:xfrm>
            <a:off x="6766560" y="1801368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2" name="Image 5" descr="D:\Claude\meditrace-pitch\assets\s5-duyet-crop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1975104"/>
            <a:ext cx="4407408" cy="2386584"/>
          </a:xfrm>
          <a:prstGeom prst="rect">
            <a:avLst/>
          </a:prstGeom>
        </p:spPr>
      </p:pic>
      <p:pic>
        <p:nvPicPr>
          <p:cNvPr id="33" name="Image 6" descr="D:\Claude\meditrace-pitch\assets\phone-rou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2816352"/>
            <a:ext cx="1371600" cy="283464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163056" y="4672584"/>
            <a:ext cx="2560320" cy="868680"/>
          </a:xfrm>
          <a:prstGeom prst="roundRect">
            <a:avLst>
              <a:gd name="adj" fmla="val 14737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5" name="Shape 26"/>
          <p:cNvSpPr/>
          <p:nvPr/>
        </p:nvSpPr>
        <p:spPr>
          <a:xfrm>
            <a:off x="6126480" y="4599432"/>
            <a:ext cx="25603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</p:spPr>
      </p:sp>
      <p:sp>
        <p:nvSpPr>
          <p:cNvPr id="36" name="Text 27"/>
          <p:cNvSpPr/>
          <p:nvPr/>
        </p:nvSpPr>
        <p:spPr>
          <a:xfrm>
            <a:off x="6309360" y="46908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9 · Người nhà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“Mẹ tôi bị hen suyễn.”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8092440" y="4050792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38" name="Text 29"/>
          <p:cNvSpPr/>
          <p:nvPr/>
        </p:nvSpPr>
        <p:spPr>
          <a:xfrm>
            <a:off x="8092440" y="4050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cứ: Lượt thoại 9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321040" y="5513832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sp>
        <p:nvSpPr>
          <p:cNvPr id="40" name="Text 31"/>
          <p:cNvSpPr/>
          <p:nvPr/>
        </p:nvSpPr>
        <p:spPr>
          <a:xfrm>
            <a:off x="8321040" y="5513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Nói về: Người mẹ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1212393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lâm sàng &amp; Áp lực ghi chép của Bác sĩ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Nghịch lý giữa thời gian chăm sóc người bệnh và gánh nặng hoàn thiện hồ sơ</a:t>
            </a:r>
            <a:endParaRPr lang="en-US" sz="1600" dirty="0"/>
          </a:p>
        </p:txBody>
      </p:sp>
      <p:pic>
        <p:nvPicPr>
          <p:cNvPr id="17" name="Image 3" descr="D:\Claude\meditrace-pitch\assets\glow-teal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2057400" y="1856232"/>
            <a:ext cx="4114800" cy="41148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474720" y="2999232"/>
            <a:ext cx="640080" cy="914400"/>
          </a:xfrm>
          <a:prstGeom prst="line">
            <a:avLst/>
          </a:prstGeom>
          <a:noFill/>
          <a:ln w="25400">
            <a:solidFill>
              <a:srgbClr val="14B8C4">
                <a:alpha val="70000"/>
              </a:srgbClr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4114800" y="2999232"/>
            <a:ext cx="548640" cy="914400"/>
          </a:xfrm>
          <a:prstGeom prst="line">
            <a:avLst/>
          </a:prstGeom>
          <a:noFill/>
          <a:ln w="25400">
            <a:solidFill>
              <a:srgbClr val="14B8C4">
                <a:alpha val="70000"/>
              </a:srgbClr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3474720" y="3913632"/>
            <a:ext cx="640080" cy="822960"/>
          </a:xfrm>
          <a:prstGeom prst="line">
            <a:avLst/>
          </a:prstGeom>
          <a:noFill/>
          <a:ln w="25400">
            <a:solidFill>
              <a:srgbClr val="14B8C4">
                <a:alpha val="70000"/>
              </a:srgbClr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4114800" y="3913632"/>
            <a:ext cx="548640" cy="822960"/>
          </a:xfrm>
          <a:prstGeom prst="line">
            <a:avLst/>
          </a:prstGeom>
          <a:noFill/>
          <a:ln w="25400">
            <a:solidFill>
              <a:srgbClr val="14B8C4">
                <a:alpha val="70000"/>
              </a:srgbClr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640080" y="1993392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04672" y="22494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04672" y="2249424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25" name="Image 4" descr="D:\Claude\meditrace-pitch\assets\i5-LuEar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065" y="2379817"/>
            <a:ext cx="306141" cy="30614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19933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Lắng nghe &amp; Khai thác triệu chứng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663440" y="1993392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828032" y="22494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28032" y="2249424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30" name="Image 5" descr="D:\Claude\meditrace-pitch\assets\i5-LuListChecks-14B8C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8425" y="2379817"/>
            <a:ext cx="306141" cy="30614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32120" y="19933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Sàng lọc thông tin giá trị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40080" y="4736592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04672" y="49926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04672" y="4992624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35" name="Image 6" descr="D:\Claude\meditrace-pitch\assets\i5-LuRefreshCw-14B8C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065" y="5123017"/>
            <a:ext cx="306141" cy="30614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508760" y="4736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 đính chính &amp; Người nhà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4663440" y="4736592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4828032" y="49926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28032" y="4992624"/>
            <a:ext cx="566928" cy="566928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40" name="Image 7" descr="D:\Claude\meditrace-pitch\assets\i5-LuClipboardCheck-14B8C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8425" y="5123017"/>
            <a:ext cx="306141" cy="30614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532120" y="4736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pháp lý trước khi lưu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3474720" y="3273552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43" name="Image 8" descr="D:\Claude\meditrace-pitch\assets\i5-LuStethoscope-071A3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7328" y="3566160"/>
            <a:ext cx="694944" cy="69494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3291840" y="4599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</a:t>
            </a:r>
            <a:endParaRPr lang="en-US" sz="1400" dirty="0"/>
          </a:p>
        </p:txBody>
      </p:sp>
      <p:sp>
        <p:nvSpPr>
          <p:cNvPr id="45" name="Shape 34"/>
          <p:cNvSpPr/>
          <p:nvPr/>
        </p:nvSpPr>
        <p:spPr>
          <a:xfrm>
            <a:off x="8046720" y="1901952"/>
            <a:ext cx="3474720" cy="4023360"/>
          </a:xfrm>
          <a:prstGeom prst="roundRect">
            <a:avLst>
              <a:gd name="adj" fmla="val 4211"/>
            </a:avLst>
          </a:prstGeom>
          <a:solidFill>
            <a:srgbClr val="0C284A">
              <a:alpha val="85000"/>
            </a:srgbClr>
          </a:solidFill>
          <a:ln w="25400">
            <a:solidFill>
              <a:srgbClr val="F6B73C"/>
            </a:solidFill>
            <a:prstDash val="solid"/>
          </a:ln>
        </p:spPr>
      </p:sp>
      <p:pic>
        <p:nvPicPr>
          <p:cNvPr id="46" name="Image 9" descr="D:\Claude\meditrace-pitch\assets\i5-LuTriangleAlert-F6B73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2176272"/>
            <a:ext cx="594360" cy="59436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8366760" y="290779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nháp AI viết thẳng tiềm ẩn rủi ro lớn</a:t>
            </a:r>
            <a:endParaRPr lang="en-US" sz="2100" dirty="0"/>
          </a:p>
        </p:txBody>
      </p:sp>
      <p:sp>
        <p:nvSpPr>
          <p:cNvPr id="48" name="Text 36"/>
          <p:cNvSpPr/>
          <p:nvPr/>
        </p:nvSpPr>
        <p:spPr>
          <a:xfrm>
            <a:off x="8366760" y="427939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là tài liệu pháp lý tối cao trong y tế. Một thông tin sai lệch có thể dẫn tới quyết định điều trị nguy hiểm.</a:t>
            </a:r>
            <a:endParaRPr lang="en-US" sz="1400" dirty="0"/>
          </a:p>
        </p:txBody>
      </p:sp>
      <p:sp>
        <p:nvSpPr>
          <p:cNvPr id="49" name="Shape 37"/>
          <p:cNvSpPr/>
          <p:nvPr/>
        </p:nvSpPr>
        <p:spPr>
          <a:xfrm>
            <a:off x="640080" y="5971032"/>
            <a:ext cx="10911535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C4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914400" y="5971032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Sinsky et al. (Ann Intern Med): Bác sĩ chỉ dành 27,0% thời gian cho khám trực tiếp nhưng mất tới 49,2% cho hồ sơ và giấy tờ.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1818589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không thể để LLM tự do viết hồ sơ y tế?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cạm bẫy ngữ nghĩa chết người mà các thước đo AI truyền thống (ROUGE/BLEU) bỏ qua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2020824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47672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1947672"/>
            <a:ext cx="33832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217627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2176272"/>
            <a:ext cx="594360" cy="594360"/>
          </a:xfrm>
          <a:prstGeom prst="ellipse">
            <a:avLst/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22" name="Image 3" descr="D:\Claude\meditrace-pitch\assets\i5-LuUsers-14B8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3" y="2312975"/>
            <a:ext cx="320954" cy="3209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217627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Lẫn lộn chủ thể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6868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 THỰC TẾ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68680" y="3136392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0F7FA"/>
          </a:solidFill>
          <a:ln/>
        </p:spPr>
      </p:sp>
      <p:sp>
        <p:nvSpPr>
          <p:cNvPr id="26" name="Text 20"/>
          <p:cNvSpPr/>
          <p:nvPr/>
        </p:nvSpPr>
        <p:spPr>
          <a:xfrm>
            <a:off x="987552" y="313639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nhà nói: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“Mẹ tôi bị hen suyễn.”</a:t>
            </a:r>
            <a:endParaRPr lang="en-US" sz="1400" dirty="0"/>
          </a:p>
        </p:txBody>
      </p:sp>
      <p:pic>
        <p:nvPicPr>
          <p:cNvPr id="27" name="Image 4" descr="D:\Claude\meditrace-pitch\assets\i5-LuArrowDown-47556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7128" y="402336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VIẾT THẲNG MẮC LỖI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68680" y="4599432"/>
            <a:ext cx="2926080" cy="658368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/>
        </p:spPr>
      </p:sp>
      <p:sp>
        <p:nvSpPr>
          <p:cNvPr id="30" name="Text 23"/>
          <p:cNvSpPr/>
          <p:nvPr/>
        </p:nvSpPr>
        <p:spPr>
          <a:xfrm>
            <a:off x="987552" y="459943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có tiền sử hen phế quản.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68680" y="53583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 kê sai thuốc chống chỉ định!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393692" y="2020824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4357116" y="1947672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4357116" y="1947672"/>
            <a:ext cx="3383280" cy="73152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35" name="Shape 28"/>
          <p:cNvSpPr/>
          <p:nvPr/>
        </p:nvSpPr>
        <p:spPr>
          <a:xfrm>
            <a:off x="4585716" y="217627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585716" y="2176272"/>
            <a:ext cx="594360" cy="594360"/>
          </a:xfrm>
          <a:prstGeom prst="ellipse">
            <a:avLst/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37" name="Image 5" descr="D:\Claude\meditrace-pitch\assets\i5-LuClock-14B8C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419" y="2312975"/>
            <a:ext cx="320954" cy="32095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17236" y="217627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Bỏ qua lời tự sửa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4585716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 THỰC TẾ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4585716" y="3136392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0F7FA"/>
          </a:solidFill>
          <a:ln/>
        </p:spPr>
      </p:sp>
      <p:sp>
        <p:nvSpPr>
          <p:cNvPr id="41" name="Text 33"/>
          <p:cNvSpPr/>
          <p:nvPr/>
        </p:nvSpPr>
        <p:spPr>
          <a:xfrm>
            <a:off x="4704588" y="313639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nói: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 một tuần… à không, mười ngày.”</a:t>
            </a:r>
            <a:endParaRPr lang="en-US" sz="1400" dirty="0"/>
          </a:p>
        </p:txBody>
      </p:sp>
      <p:pic>
        <p:nvPicPr>
          <p:cNvPr id="42" name="Image 6" descr="D:\Claude\meditrace-pitch\assets\i5-LuArrowDown-47556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4164" y="4023360"/>
            <a:ext cx="329184" cy="32918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585716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VIẾT THẲNG MẮC LỖI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4585716" y="4599432"/>
            <a:ext cx="2926080" cy="658368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/>
        </p:spPr>
      </p:sp>
      <p:sp>
        <p:nvSpPr>
          <p:cNvPr id="45" name="Text 36"/>
          <p:cNvSpPr/>
          <p:nvPr/>
        </p:nvSpPr>
        <p:spPr>
          <a:xfrm>
            <a:off x="4704588" y="459943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ho kéo dài </a:t>
            </a:r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tuần.</a:t>
            </a:r>
            <a:endParaRPr lang="en-US" sz="1500" dirty="0"/>
          </a:p>
        </p:txBody>
      </p:sp>
      <p:sp>
        <p:nvSpPr>
          <p:cNvPr id="46" name="Text 37"/>
          <p:cNvSpPr/>
          <p:nvPr/>
        </p:nvSpPr>
        <p:spPr>
          <a:xfrm>
            <a:off x="4585716" y="53583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sót giai đoạn bệnh trở nặng!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8110728" y="2020824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48" name="Shape 39"/>
          <p:cNvSpPr/>
          <p:nvPr/>
        </p:nvSpPr>
        <p:spPr>
          <a:xfrm>
            <a:off x="8074152" y="1947672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</p:spPr>
      </p:sp>
      <p:sp>
        <p:nvSpPr>
          <p:cNvPr id="49" name="Shape 40"/>
          <p:cNvSpPr/>
          <p:nvPr/>
        </p:nvSpPr>
        <p:spPr>
          <a:xfrm>
            <a:off x="8074152" y="1947672"/>
            <a:ext cx="3383280" cy="73152"/>
          </a:xfrm>
          <a:prstGeom prst="rect">
            <a:avLst/>
          </a:prstGeom>
          <a:solidFill>
            <a:srgbClr val="087F8C"/>
          </a:solidFill>
          <a:ln/>
        </p:spPr>
      </p:sp>
      <p:sp>
        <p:nvSpPr>
          <p:cNvPr id="50" name="Shape 41"/>
          <p:cNvSpPr/>
          <p:nvPr/>
        </p:nvSpPr>
        <p:spPr>
          <a:xfrm>
            <a:off x="8302752" y="217627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8302752" y="2176272"/>
            <a:ext cx="594360" cy="594360"/>
          </a:xfrm>
          <a:prstGeom prst="ellipse">
            <a:avLst/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52" name="Image 7" descr="D:\Claude\meditrace-pitch\assets\i5-LuCircleHelp-14B8C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455" y="2312975"/>
            <a:ext cx="320954" cy="32095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9034272" y="217627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Biến giả định thành sự thật</a:t>
            </a:r>
            <a:endParaRPr lang="en-US" sz="1700" dirty="0"/>
          </a:p>
        </p:txBody>
      </p:sp>
      <p:sp>
        <p:nvSpPr>
          <p:cNvPr id="54" name="Text 44"/>
          <p:cNvSpPr/>
          <p:nvPr/>
        </p:nvSpPr>
        <p:spPr>
          <a:xfrm>
            <a:off x="8302752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 THỰC TẾ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8302752" y="3136392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E0F7FA"/>
          </a:solidFill>
          <a:ln/>
        </p:spPr>
      </p:sp>
      <p:sp>
        <p:nvSpPr>
          <p:cNvPr id="56" name="Text 46"/>
          <p:cNvSpPr/>
          <p:nvPr/>
        </p:nvSpPr>
        <p:spPr>
          <a:xfrm>
            <a:off x="8421624" y="3136392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dặn: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“Nếu mai còn sốt cao thì mới chụp phim.”</a:t>
            </a:r>
            <a:endParaRPr lang="en-US" sz="1400" dirty="0"/>
          </a:p>
        </p:txBody>
      </p:sp>
      <p:pic>
        <p:nvPicPr>
          <p:cNvPr id="57" name="Image 8" descr="D:\Claude\meditrace-pitch\assets\i5-LuArrowDown-47556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4023360"/>
            <a:ext cx="329184" cy="329184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8302752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VIẾT THẲNG MẮC LỖI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8302752" y="4599432"/>
            <a:ext cx="2926080" cy="658368"/>
          </a:xfrm>
          <a:prstGeom prst="roundRect">
            <a:avLst>
              <a:gd name="adj" fmla="val 13889"/>
            </a:avLst>
          </a:prstGeom>
          <a:solidFill>
            <a:srgbClr val="FEE2E2"/>
          </a:solidFill>
          <a:ln/>
        </p:spPr>
      </p:sp>
      <p:sp>
        <p:nvSpPr>
          <p:cNvPr id="60" name="Text 49"/>
          <p:cNvSpPr/>
          <p:nvPr/>
        </p:nvSpPr>
        <p:spPr>
          <a:xfrm>
            <a:off x="8421624" y="4599432"/>
            <a:ext cx="2688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</a:t>
            </a:r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chụp X-quang phổi.</a:t>
            </a:r>
            <a:endParaRPr lang="en-US" sz="1500" dirty="0"/>
          </a:p>
        </p:txBody>
      </p:sp>
      <p:sp>
        <p:nvSpPr>
          <p:cNvPr id="61" name="Text 50"/>
          <p:cNvSpPr/>
          <p:nvPr/>
        </p:nvSpPr>
        <p:spPr>
          <a:xfrm>
            <a:off x="8302752" y="53583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khống chỉ định cận lâm sàng!</a:t>
            </a:r>
            <a:endParaRPr lang="en-US" sz="1200" dirty="0"/>
          </a:p>
        </p:txBody>
      </p:sp>
      <p:sp>
        <p:nvSpPr>
          <p:cNvPr id="62" name="Text 51"/>
          <p:cNvSpPr/>
          <p:nvPr/>
        </p:nvSpPr>
        <p:spPr>
          <a:xfrm>
            <a:off x="640080" y="606247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Thước đo ROUGE-1 truyền thống đạt điểm rất cao trên các câu này vì trùng từ, nhưng hoàn toàn sai lệch về an toàn người bệnh.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2424786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mới phương pháp luận: Mệnh đề có cấu trúc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Rời bỏ "Hộp đen sinh văn bản" — Chuyển sang "Kiểm soát từng mẩu thông tin nguyên tử"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2066544"/>
            <a:ext cx="4023360" cy="2103120"/>
          </a:xfrm>
          <a:prstGeom prst="roundRect">
            <a:avLst>
              <a:gd name="adj" fmla="val 869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93392"/>
            <a:ext cx="40233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21762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2176272"/>
            <a:ext cx="548640" cy="548640"/>
          </a:xfrm>
          <a:prstGeom prst="ellipse">
            <a:avLst/>
          </a:prstGeom>
          <a:solidFill>
            <a:srgbClr val="071A36"/>
          </a:solidFill>
          <a:ln w="19050">
            <a:solidFill>
              <a:srgbClr val="14B8C4"/>
            </a:solidFill>
            <a:prstDash val="solid"/>
          </a:ln>
        </p:spPr>
      </p:sp>
      <p:pic>
        <p:nvPicPr>
          <p:cNvPr id="21" name="Image 3" descr="D:\Claude\meditrace-pitch\assets\i5-LuUser-14B8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2302459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2176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(Lượt thoại 5)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286207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“Tôi bị ho một tuần…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không, mười ngày rồi bác sĩ.”</a:t>
            </a:r>
            <a:endParaRPr lang="en-US" sz="1800" dirty="0"/>
          </a:p>
        </p:txBody>
      </p:sp>
      <p:pic>
        <p:nvPicPr>
          <p:cNvPr id="24" name="Image 4" descr="D:\Claude\meditrace-pitch\assets\i5-LuMoveRight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62072"/>
            <a:ext cx="731520" cy="7315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7200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&amp; Gán cấu trúc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980176" y="2066544"/>
            <a:ext cx="5577840" cy="2926080"/>
          </a:xfrm>
          <a:prstGeom prst="roundRect">
            <a:avLst>
              <a:gd name="adj" fmla="val 6250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5943600" y="1993392"/>
            <a:ext cx="557784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8" name="Shape 21"/>
          <p:cNvSpPr/>
          <p:nvPr/>
        </p:nvSpPr>
        <p:spPr>
          <a:xfrm>
            <a:off x="5943600" y="1993392"/>
            <a:ext cx="5577840" cy="548640"/>
          </a:xfrm>
          <a:prstGeom prst="roundRect">
            <a:avLst>
              <a:gd name="adj" fmla="val 33333"/>
            </a:avLst>
          </a:prstGeom>
          <a:solidFill>
            <a:srgbClr val="071A36"/>
          </a:solidFill>
          <a:ln/>
        </p:spPr>
      </p:sp>
      <p:sp>
        <p:nvSpPr>
          <p:cNvPr id="29" name="Shape 22"/>
          <p:cNvSpPr/>
          <p:nvPr/>
        </p:nvSpPr>
        <p:spPr>
          <a:xfrm>
            <a:off x="5943600" y="2359152"/>
            <a:ext cx="5577840" cy="182880"/>
          </a:xfrm>
          <a:prstGeom prst="rect">
            <a:avLst/>
          </a:prstGeom>
          <a:solidFill>
            <a:srgbClr val="071A36"/>
          </a:solidFill>
          <a:ln/>
        </p:spPr>
      </p:sp>
      <p:sp>
        <p:nvSpPr>
          <p:cNvPr id="30" name="Text 23"/>
          <p:cNvSpPr/>
          <p:nvPr/>
        </p:nvSpPr>
        <p:spPr>
          <a:xfrm>
            <a:off x="621792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MỆNH ĐỀ LÂM SÀNG CÓ CẤU TRÚC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875520" y="20848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32" name="Text 25"/>
          <p:cNvSpPr/>
          <p:nvPr/>
        </p:nvSpPr>
        <p:spPr>
          <a:xfrm>
            <a:off x="9875520" y="20848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dùng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217920" y="2679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955280" y="2679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(triệu chứng hô hấp)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6217920" y="3063240"/>
            <a:ext cx="4937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217920" y="3099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thể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955280" y="3099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nhân (từ xưng "tôi")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6217920" y="3483864"/>
            <a:ext cx="4937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21792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95528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ngày (giá trị đính chính mới nhất)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6217920" y="3904488"/>
            <a:ext cx="4937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217920" y="39410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hệ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7955280" y="3941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thay_the (đính chính cho "1 tuần")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6217920" y="4325112"/>
            <a:ext cx="4937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17920" y="4361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cứ nguyên văn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7955280" y="4361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“à không, mười ngày rồi” (Lượt 5)</a:t>
            </a:r>
            <a:endParaRPr lang="en-US" sz="1600" dirty="0"/>
          </a:p>
        </p:txBody>
      </p:sp>
      <p:sp>
        <p:nvSpPr>
          <p:cNvPr id="47" name="Shape 40"/>
          <p:cNvSpPr/>
          <p:nvPr/>
        </p:nvSpPr>
        <p:spPr>
          <a:xfrm>
            <a:off x="5943600" y="5056632"/>
            <a:ext cx="5577840" cy="777240"/>
          </a:xfrm>
          <a:prstGeom prst="roundRect">
            <a:avLst>
              <a:gd name="adj" fmla="val 18824"/>
            </a:avLst>
          </a:prstGeom>
          <a:solidFill>
            <a:srgbClr val="0C284A">
              <a:alpha val="70000"/>
            </a:srgbClr>
          </a:solidFill>
          <a:ln w="12700">
            <a:solidFill>
              <a:srgbClr val="F6B73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217920" y="50566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cũ: một tuần</a:t>
            </a:r>
            <a:endParaRPr lang="en-US" sz="1800" dirty="0"/>
          </a:p>
        </p:txBody>
      </p:sp>
      <p:sp>
        <p:nvSpPr>
          <p:cNvPr id="49" name="Shape 42"/>
          <p:cNvSpPr/>
          <p:nvPr/>
        </p:nvSpPr>
        <p:spPr>
          <a:xfrm>
            <a:off x="9418320" y="5239512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sp>
        <p:nvSpPr>
          <p:cNvPr id="50" name="Text 43"/>
          <p:cNvSpPr/>
          <p:nvPr/>
        </p:nvSpPr>
        <p:spPr>
          <a:xfrm>
            <a:off x="9418320" y="5239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BỊ THAY THẾ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640080" y="4370832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cũ “một tuần” được lưu dấu vết nhưng loại khỏi thân hồ sơ chính thức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3030982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đường ống 6 tầng (Master Pipeline)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tách rạch ròi giữa Trích xuất mô hình và Logic kiểm định xác định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1975104"/>
            <a:ext cx="4389120" cy="4206240"/>
          </a:xfrm>
          <a:prstGeom prst="roundRect">
            <a:avLst>
              <a:gd name="adj" fmla="val 3478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01952"/>
            <a:ext cx="4389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39112"/>
            <a:ext cx="4114800" cy="39319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303520" y="1901952"/>
            <a:ext cx="6217920" cy="621792"/>
          </a:xfrm>
          <a:prstGeom prst="roundRect">
            <a:avLst>
              <a:gd name="adj" fmla="val 17647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03520" y="1901952"/>
            <a:ext cx="73152" cy="62179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22" name="Shape 16"/>
          <p:cNvSpPr/>
          <p:nvPr/>
        </p:nvSpPr>
        <p:spPr>
          <a:xfrm>
            <a:off x="5486400" y="2029968"/>
            <a:ext cx="365760" cy="36576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3" name="Text 17"/>
          <p:cNvSpPr/>
          <p:nvPr/>
        </p:nvSpPr>
        <p:spPr>
          <a:xfrm>
            <a:off x="548640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98932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1 · Chuẩn hoá phương ngữ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989320" y="2212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âm ASR PhoWhisper, NFC, sửa lỗi chính tả, phương ngữ 3 miền, đơn vị thuốc.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303520" y="2587752"/>
            <a:ext cx="6217920" cy="621792"/>
          </a:xfrm>
          <a:prstGeom prst="roundRect">
            <a:avLst>
              <a:gd name="adj" fmla="val 17647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0" y="2587752"/>
            <a:ext cx="73152" cy="62179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28" name="Shape 22"/>
          <p:cNvSpPr/>
          <p:nvPr/>
        </p:nvSpPr>
        <p:spPr>
          <a:xfrm>
            <a:off x="5486400" y="2715768"/>
            <a:ext cx="365760" cy="36576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989320" y="26426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2 · Trích xuất cấu trúc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989320" y="28986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Qwen 2.5 QLoRA trích xuất danh sách mệnh đề cấu trúc JSON Schema.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303520" y="3273552"/>
            <a:ext cx="6217920" cy="621792"/>
          </a:xfrm>
          <a:prstGeom prst="roundRect">
            <a:avLst>
              <a:gd name="adj" fmla="val 17647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303520" y="3273552"/>
            <a:ext cx="73152" cy="6217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4" name="Shape 28"/>
          <p:cNvSpPr/>
          <p:nvPr/>
        </p:nvSpPr>
        <p:spPr>
          <a:xfrm>
            <a:off x="5486400" y="34015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5989320" y="33284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3 · Liên kết &amp; Trạng thái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989320" y="35844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Nối thực thể với lượt thoại, cập nhật quan hệ đính chính (thay thế lời cũ).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303520" y="3959352"/>
            <a:ext cx="6217920" cy="621792"/>
          </a:xfrm>
          <a:prstGeom prst="roundRect">
            <a:avLst>
              <a:gd name="adj" fmla="val 17647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03520" y="3959352"/>
            <a:ext cx="73152" cy="6217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0" name="Shape 34"/>
          <p:cNvSpPr/>
          <p:nvPr/>
        </p:nvSpPr>
        <p:spPr>
          <a:xfrm>
            <a:off x="5486400" y="40873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5"/>
          <p:cNvSpPr/>
          <p:nvPr/>
        </p:nvSpPr>
        <p:spPr>
          <a:xfrm>
            <a:off x="54864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5989320" y="4014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4 · Khóa bằng chứng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5989320" y="42702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kiểm tra logic K1-K5: Nguồn, nội dung, chủ thể, mức độ khẳng định, thời gian.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303520" y="4645152"/>
            <a:ext cx="6217920" cy="621792"/>
          </a:xfrm>
          <a:prstGeom prst="roundRect">
            <a:avLst>
              <a:gd name="adj" fmla="val 17647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303520" y="4645152"/>
            <a:ext cx="73152" cy="621792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sp>
        <p:nvSpPr>
          <p:cNvPr id="46" name="Shape 40"/>
          <p:cNvSpPr/>
          <p:nvPr/>
        </p:nvSpPr>
        <p:spPr>
          <a:xfrm>
            <a:off x="5486400" y="4773168"/>
            <a:ext cx="365760" cy="36576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47" name="Text 41"/>
          <p:cNvSpPr/>
          <p:nvPr/>
        </p:nvSpPr>
        <p:spPr>
          <a:xfrm>
            <a:off x="548640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5989320" y="47000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5 · Cộng điểm rủi ro</a:t>
            </a:r>
            <a:endParaRPr lang="en-US" sz="1400" dirty="0"/>
          </a:p>
        </p:txBody>
      </p:sp>
      <p:sp>
        <p:nvSpPr>
          <p:cNvPr id="49" name="Text 43"/>
          <p:cNvSpPr/>
          <p:nvPr/>
        </p:nvSpPr>
        <p:spPr>
          <a:xfrm>
            <a:off x="5989320" y="49560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rủi ro lâm sàng đa chiều: Thai kỳ, trẻ nhỏ, suy thận, tương tác thuốc.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5303520" y="5330952"/>
            <a:ext cx="6217920" cy="621792"/>
          </a:xfrm>
          <a:prstGeom prst="roundRect">
            <a:avLst>
              <a:gd name="adj" fmla="val 17647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303520" y="5330952"/>
            <a:ext cx="73152" cy="621792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sp>
        <p:nvSpPr>
          <p:cNvPr id="52" name="Shape 46"/>
          <p:cNvSpPr/>
          <p:nvPr/>
        </p:nvSpPr>
        <p:spPr>
          <a:xfrm>
            <a:off x="5486400" y="5458968"/>
            <a:ext cx="365760" cy="36576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53" name="Text 47"/>
          <p:cNvSpPr/>
          <p:nvPr/>
        </p:nvSpPr>
        <p:spPr>
          <a:xfrm>
            <a:off x="5486400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4" name="Text 48"/>
          <p:cNvSpPr/>
          <p:nvPr/>
        </p:nvSpPr>
        <p:spPr>
          <a:xfrm>
            <a:off x="5989320" y="5385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6 · Hỏi lại Bác sĩ</a:t>
            </a:r>
            <a:endParaRPr lang="en-US" sz="1400" dirty="0"/>
          </a:p>
        </p:txBody>
      </p:sp>
      <p:sp>
        <p:nvSpPr>
          <p:cNvPr id="55" name="Text 49"/>
          <p:cNvSpPr/>
          <p:nvPr/>
        </p:nvSpPr>
        <p:spPr>
          <a:xfrm>
            <a:off x="5989320" y="5641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sinh câu hỏi tự nhiên theo văn phong bác sĩ để xác minh điểm mù.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3637178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Âm thanh PhoWhisper &amp; Lưới bảo vệ từ khóa lâm sàng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chặn triệt để nguy cơ nghe nhầm tên thuốc, liều dùng và triệu chứng sinh tử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1975104"/>
            <a:ext cx="4206240" cy="4206240"/>
          </a:xfrm>
          <a:prstGeom prst="roundRect">
            <a:avLst>
              <a:gd name="adj" fmla="val 3478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01952"/>
            <a:ext cx="420624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39112"/>
            <a:ext cx="3931920" cy="39319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20640" y="1901952"/>
            <a:ext cx="6400800" cy="4206240"/>
          </a:xfrm>
          <a:prstGeom prst="roundRect">
            <a:avLst>
              <a:gd name="adj" fmla="val 3478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394960" y="20848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GIÁM SÁT TỪ KHÓA LÂM SÀNG TRỌNG YẾU (CRITICAL TOKENS)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394960" y="2404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nguồn nhóm vừa nâng cấp trong `src/audio/asr/critical_tokens.py` tạo lưới bảo vệ đa tầng: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31536" y="2843784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5394960" y="2770632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25" name="Image 4" descr="D:\Claude\meditrace-pitch\assets\i5-LuPill-087F8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93522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89320" y="28437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thuốc sinh tử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989320" y="30998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Kháng sinh (Amoxicillin, Cefuroxime...), Tim mạch (Amlodipine, Losartan...), Đái tháo đường (Metformin...).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31536" y="3621024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5394960" y="3547872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30" name="Image 5" descr="D:\Claude\meditrace-pitch\assets\i5-LuFlaskConical-087F8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71246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989320" y="36210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liều dùng đặc thù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989320" y="38770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Nhát xịt (thuốc hen), viên, gói, giọt, ống, đơn vị (UI) — Chống nhầm 5mg thành 50mg.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431536" y="4398264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4" name="Shape 26"/>
          <p:cNvSpPr/>
          <p:nvPr/>
        </p:nvSpPr>
        <p:spPr>
          <a:xfrm>
            <a:off x="5394960" y="4325112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35" name="Image 6" descr="D:\Claude\meditrace-pitch\assets\i5-LuActivity-087F8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4489704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989320" y="43982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độ đau lâm sàng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5989320" y="46542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Đau nhói, đau quặn, âm ỉ, dữ dội, tức ngực, khó thở — Phản ánh chính xác mức độ cấp cứu.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5431536" y="5175504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9" name="Shape 30"/>
          <p:cNvSpPr/>
          <p:nvPr/>
        </p:nvSpPr>
        <p:spPr>
          <a:xfrm>
            <a:off x="5394960" y="5102352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40" name="Image 7" descr="D:\Claude\meditrace-pitch\assets\i5-LuShieldAlert-087F8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5266944"/>
            <a:ext cx="347472" cy="34747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989320" y="5175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lệch âm PhoWhisper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5989320" y="54315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đối chiếu phiên âm, phạt nặng sai số trên từ khóa y khoa nhạy cảm.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4243375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Mô hình Ngôn ngữ &amp; Kỹ thuật QLoRA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mở hiệu năng cao, tối ưu phần cứng phòng khám, trích xuất JSON Schema chặt chẽ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1975104"/>
            <a:ext cx="5029200" cy="4023360"/>
          </a:xfrm>
          <a:prstGeom prst="roundRect">
            <a:avLst>
              <a:gd name="adj" fmla="val 363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01952"/>
            <a:ext cx="502920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21992"/>
            <a:ext cx="4754880" cy="33832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943600" y="1901952"/>
            <a:ext cx="5577840" cy="4023360"/>
          </a:xfrm>
          <a:prstGeom prst="roundRect">
            <a:avLst>
              <a:gd name="adj" fmla="val 3636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1792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SỐ HUẤN LUYỆN &amp; KIỂM SOÁT MÔ HÌNH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17920" y="2496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nền tảng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183880" y="2496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2.5 3B / 7B Instruct (mô hình mã nguồn mở hàng đầu)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17920" y="2971800"/>
            <a:ext cx="5029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217920" y="3026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Lượng tử hoá 4-bit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183880" y="30266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NF4 (NormalFloat4), Double Quantization, tiêu thụ &lt; 8GB VRAM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217920" y="3502152"/>
            <a:ext cx="5029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217920" y="3557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LoRA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183880" y="35570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r = 16, Alpha α = 32, Target: q, k, v, o_proj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217920" y="4032504"/>
            <a:ext cx="5029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217920" y="4087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dạng đầu ra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18388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buộc tuân thủ 100% JSON Schema danh sách mệnh đề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217920" y="4562856"/>
            <a:ext cx="5029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179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mã tham lam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18388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Decoding (nhiệt độ = 0), triệt tiêu hoàn toàn tính ngẫu nhiên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6217920" y="5093208"/>
            <a:ext cx="50292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217920" y="5148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ngữ cảnh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8183880" y="5148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3.072 token, cắt ngắn hội thoại hợp lý, tối ưu tốc độ suy luận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4849571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4: Động cơ Khóa bằng chứng (Evidence Locking)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chốt chặn logic xác định — Mọi khẳng định phải có câu nói gốc làm căn cứ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1947672"/>
            <a:ext cx="2057400" cy="3474720"/>
          </a:xfrm>
          <a:prstGeom prst="roundRect">
            <a:avLst>
              <a:gd name="adj" fmla="val 7111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</a:t>
            </a:r>
            <a:endParaRPr lang="en-US" sz="1600" dirty="0"/>
          </a:p>
        </p:txBody>
      </p:sp>
      <p:pic>
        <p:nvPicPr>
          <p:cNvPr id="20" name="Image 3" descr="D:\Claude\meditrace-pitch\assets\i5-LuFileCheck-14B8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13055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2770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gốc nguyên văn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22960" y="3410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dẫn phải là chuỗi văn bản thực sự tồn tại trong lượt thoại chỉ định.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843784" y="1947672"/>
            <a:ext cx="2057400" cy="3474720"/>
          </a:xfrm>
          <a:prstGeom prst="roundRect">
            <a:avLst>
              <a:gd name="adj" fmla="val 7111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026664" y="2130552"/>
            <a:ext cx="457200" cy="45720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5" name="Text 19"/>
          <p:cNvSpPr/>
          <p:nvPr/>
        </p:nvSpPr>
        <p:spPr>
          <a:xfrm>
            <a:off x="3026664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</a:t>
            </a:r>
            <a:endParaRPr lang="en-US" sz="1600" dirty="0"/>
          </a:p>
        </p:txBody>
      </p:sp>
      <p:pic>
        <p:nvPicPr>
          <p:cNvPr id="26" name="Image 4" descr="D:\Claude\meditrace-pitch\assets\i5-LuFileSearch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213055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26664" y="2770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thực thể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026664" y="3410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Khớp với từ điển y tế đã chuẩn hoá, chặn hoàn toàn nội dung bịa đặt.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047488" y="1947672"/>
            <a:ext cx="2057400" cy="3474720"/>
          </a:xfrm>
          <a:prstGeom prst="roundRect">
            <a:avLst>
              <a:gd name="adj" fmla="val 7111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230368" y="2130552"/>
            <a:ext cx="457200" cy="45720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31" name="Text 24"/>
          <p:cNvSpPr/>
          <p:nvPr/>
        </p:nvSpPr>
        <p:spPr>
          <a:xfrm>
            <a:off x="523036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K3</a:t>
            </a:r>
            <a:endParaRPr lang="en-US" sz="1600" dirty="0"/>
          </a:p>
        </p:txBody>
      </p:sp>
      <p:pic>
        <p:nvPicPr>
          <p:cNvPr id="32" name="Image 5" descr="D:\Claude\meditrace-pitch\assets\i5-LuUsers-F6B7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13055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30368" y="2770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thể xưng hô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5230368" y="3410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định chính xác đại từ ("tôi", "ông", "mẹ", "cháu"), chặn nhầm người nhà.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251192" y="1947672"/>
            <a:ext cx="2057400" cy="3474720"/>
          </a:xfrm>
          <a:prstGeom prst="roundRect">
            <a:avLst>
              <a:gd name="adj" fmla="val 7111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434072" y="2130552"/>
            <a:ext cx="457200" cy="45720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37" name="Text 29"/>
          <p:cNvSpPr/>
          <p:nvPr/>
        </p:nvSpPr>
        <p:spPr>
          <a:xfrm>
            <a:off x="74340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K4</a:t>
            </a:r>
            <a:endParaRPr lang="en-US" sz="1600" dirty="0"/>
          </a:p>
        </p:txBody>
      </p:sp>
      <p:pic>
        <p:nvPicPr>
          <p:cNvPr id="38" name="Image 6" descr="D:\Claude\meditrace-pitch\assets\i5-LuCircleHelp-F6B7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2" y="2130552"/>
            <a:ext cx="411480" cy="4114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434072" y="2770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độ khẳng định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7434072" y="3410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câu điều kiện ("nếu... thì"), chặn biến kế hoạch dự phòng thành sự thật.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9454896" y="1947672"/>
            <a:ext cx="2057400" cy="3474720"/>
          </a:xfrm>
          <a:prstGeom prst="roundRect">
            <a:avLst>
              <a:gd name="adj" fmla="val 7111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637776" y="2130552"/>
            <a:ext cx="457200" cy="45720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43" name="Text 34"/>
          <p:cNvSpPr/>
          <p:nvPr/>
        </p:nvSpPr>
        <p:spPr>
          <a:xfrm>
            <a:off x="9637776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K5</a:t>
            </a:r>
            <a:endParaRPr lang="en-US" sz="1600" dirty="0"/>
          </a:p>
        </p:txBody>
      </p:sp>
      <p:pic>
        <p:nvPicPr>
          <p:cNvPr id="44" name="Image 7" descr="D:\Claude\meditrace-pitch\assets\i5-LuClock-14B8C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6496" y="2130552"/>
            <a:ext cx="411480" cy="4114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637776" y="27706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Mốc thời gian</a:t>
            </a:r>
            <a:endParaRPr lang="en-US" sz="1600" dirty="0"/>
          </a:p>
        </p:txBody>
      </p:sp>
      <p:sp>
        <p:nvSpPr>
          <p:cNvPr id="46" name="Text 36"/>
          <p:cNvSpPr/>
          <p:nvPr/>
        </p:nvSpPr>
        <p:spPr>
          <a:xfrm>
            <a:off x="9637776" y="3410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Khớp thời gian diễn biến triệu chứng, loại trừ các mốc thời gian mâu thuẫn.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640080" y="5605272"/>
            <a:ext cx="10911535" cy="5943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B8C4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914400" y="5605272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cấp độ phân định: CHẶN (đưa xuống Cần xác nhận kèm lý do) hoặc CẢNH BÁO (vào thân nhưng ưu tiên bác sĩ duyệt)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5455768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đường xử lý thông tin lâm sàng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phân luồng rõ ràng, không "giảm lỗi bằng cách viết ít đi"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1975104"/>
            <a:ext cx="5120640" cy="4114800"/>
          </a:xfrm>
          <a:prstGeom prst="roundRect">
            <a:avLst>
              <a:gd name="adj" fmla="val 355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01952"/>
            <a:ext cx="512064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84832"/>
            <a:ext cx="4846320" cy="3749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1901952"/>
            <a:ext cx="5486400" cy="914400"/>
          </a:xfrm>
          <a:prstGeom prst="roundRect">
            <a:avLst>
              <a:gd name="adj" fmla="val 16000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0" y="1901952"/>
            <a:ext cx="91440" cy="91440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22" name="Image 4" descr="D:\Claude\meditrace-pitch\assets\i5-LuCircleCheck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157984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1 · Thẳng vào thân hồ sơ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858000" y="23408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bằng chứng xác thực, không mâu thuẫn, đúng người đúng bệnh.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035040" y="2926080"/>
            <a:ext cx="5486400" cy="914400"/>
          </a:xfrm>
          <a:prstGeom prst="roundRect">
            <a:avLst>
              <a:gd name="adj" fmla="val 16000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035040" y="2926080"/>
            <a:ext cx="91440" cy="914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pic>
        <p:nvPicPr>
          <p:cNvPr id="27" name="Image 5" descr="D:\Claude\meditrace-pitch\assets\i5-LuClock-3B82F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18211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0" y="3035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2 · Cảnh báo nhưng vẫn vào thân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bằng chứng thứ cấp, xếp thứ tự ưu tiên cho bác sĩ duyệt.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035040" y="3950208"/>
            <a:ext cx="5486400" cy="914400"/>
          </a:xfrm>
          <a:prstGeom prst="roundRect">
            <a:avLst>
              <a:gd name="adj" fmla="val 16000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035040" y="3950208"/>
            <a:ext cx="91440" cy="914400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pic>
        <p:nvPicPr>
          <p:cNvPr id="32" name="Image 6" descr="D:\Claude\meditrace-pitch\assets\i5-LuTriangleAlert-F6B7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20624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40599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3 · Chặn xuống Cần xác nhận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6858000" y="4389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bằng chứng phủ định, mâu thuẫn, câu điều kiện chưa xảy ra.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035040" y="4974336"/>
            <a:ext cx="5486400" cy="914400"/>
          </a:xfrm>
          <a:prstGeom prst="roundRect">
            <a:avLst>
              <a:gd name="adj" fmla="val 16000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035040" y="4974336"/>
            <a:ext cx="91440" cy="9144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pic>
        <p:nvPicPr>
          <p:cNvPr id="37" name="Image 7" descr="D:\Claude\meditrace-pitch\assets\i5-LuHistory-94A3B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5230368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58000" y="50840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4 · Loại bỏ hoàn toàn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6858000" y="54132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cũ đã được chính người bệnh tự sửa bằng thông tin mới.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6061964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5 &amp; 6: Chuyên môn y khoa &amp; Giao tiếp bác sĩ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mức độ ưu tiên duyệt và tự động gợi ý câu hỏi xác minh điểm mù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1947672"/>
            <a:ext cx="5257800" cy="4023360"/>
          </a:xfrm>
          <a:prstGeom prst="roundRect">
            <a:avLst>
              <a:gd name="adj" fmla="val 3636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2130552"/>
            <a:ext cx="457200" cy="45720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508760" y="2221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5 — MA TRẬN RỦI RO LÂM SÀNG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05256" y="2798064"/>
            <a:ext cx="4800600" cy="868680"/>
          </a:xfrm>
          <a:prstGeom prst="roundRect">
            <a:avLst>
              <a:gd name="adj" fmla="val 1052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2724912"/>
            <a:ext cx="4800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1051560" y="27980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nhạy cảm cao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51560" y="3072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nữ mang thai, cho con bú, trẻ sơ sinh, người suy giảm chức năng gan/thận.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5256" y="3803904"/>
            <a:ext cx="4800600" cy="868680"/>
          </a:xfrm>
          <a:prstGeom prst="roundRect">
            <a:avLst>
              <a:gd name="adj" fmla="val 1052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868680" y="3730752"/>
            <a:ext cx="4800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" y="3803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về thuốc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051560" y="40782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 ứng kháng sinh nhóm Beta-lactam, tương tác thuốc nguy hiểm, sai liều.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05256" y="4809744"/>
            <a:ext cx="4800600" cy="868680"/>
          </a:xfrm>
          <a:prstGeom prst="roundRect">
            <a:avLst>
              <a:gd name="adj" fmla="val 1052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868680" y="4736592"/>
            <a:ext cx="4800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1051560" y="48097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 theo rủi ro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1051560" y="50840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Đẩy các mệnh đề rủi ro lâm sàng cao lên đầu danh sách để bác sĩ duyệt trước.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217920" y="1947672"/>
            <a:ext cx="5303520" cy="4023360"/>
          </a:xfrm>
          <a:prstGeom prst="roundRect">
            <a:avLst>
              <a:gd name="adj" fmla="val 3636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492240" y="2130552"/>
            <a:ext cx="457200" cy="45720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35" name="Text 30"/>
          <p:cNvSpPr/>
          <p:nvPr/>
        </p:nvSpPr>
        <p:spPr>
          <a:xfrm>
            <a:off x="64922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7086600" y="2221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6B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6 — TỰ ĐỘNG SINH CÂU HỎI HỎI LẠI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6483096" y="2798064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6446520" y="2724912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9" name="Text 34"/>
          <p:cNvSpPr/>
          <p:nvPr/>
        </p:nvSpPr>
        <p:spPr>
          <a:xfrm>
            <a:off x="6629400" y="27980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 trạng thái thuốc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6629400" y="30723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“Bác cho cháu hỏi loại thuốc [Amlodipine] này bác đang uống hay đã dừng hẳn rồi ạ?”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483096" y="3803904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6446520" y="3730752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43" name="Text 38"/>
          <p:cNvSpPr/>
          <p:nvPr/>
        </p:nvSpPr>
        <p:spPr>
          <a:xfrm>
            <a:off x="6629400" y="3803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 trình tự thời gian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6629400" y="40782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“Triệu chứng khó thở này xuất hiện trước hay sau khi bác uống viên hạ sốt ạ?”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483096" y="4809744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6446520" y="4736592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47" name="Text 42"/>
          <p:cNvSpPr/>
          <p:nvPr/>
        </p:nvSpPr>
        <p:spPr>
          <a:xfrm>
            <a:off x="6629400" y="48097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bác sĩ tại chỗ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6629400" y="50840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câu hỏi tự nhiên theo văn phong bác sĩ Việt Nam, làm rõ điểm mập mờ trong 5 giây.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6668160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hoàn chỉnh: Trải nghiệm thực tế tại phòng khám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web trực quan, hoạt động mượt mà từ thu âm, chép lời đến sinh hồ sơ và tra cứu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1975104"/>
            <a:ext cx="3383280" cy="3657600"/>
          </a:xfrm>
          <a:prstGeom prst="roundRect">
            <a:avLst>
              <a:gd name="adj" fmla="val 4324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01952"/>
            <a:ext cx="3383280" cy="36576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13816" y="2112264"/>
            <a:ext cx="3108960" cy="2176272"/>
          </a:xfrm>
          <a:prstGeom prst="roundRect">
            <a:avLst>
              <a:gd name="adj" fmla="val 5042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2039112"/>
            <a:ext cx="3108960" cy="2176272"/>
          </a:xfrm>
          <a:prstGeom prst="roundRect">
            <a:avLst>
              <a:gd name="adj" fmla="val 5042"/>
            </a:avLst>
          </a:prstGeom>
          <a:solidFill>
            <a:srgbClr val="EEF3F8"/>
          </a:solidFill>
          <a:ln/>
        </p:spPr>
      </p:sp>
      <p:sp>
        <p:nvSpPr>
          <p:cNvPr id="21" name="Shape 16"/>
          <p:cNvSpPr/>
          <p:nvPr/>
        </p:nvSpPr>
        <p:spPr>
          <a:xfrm>
            <a:off x="905256" y="2121408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Shape 17"/>
          <p:cNvSpPr/>
          <p:nvPr/>
        </p:nvSpPr>
        <p:spPr>
          <a:xfrm>
            <a:off x="1069848" y="2121408"/>
            <a:ext cx="91440" cy="9144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23" name="Shape 18"/>
          <p:cNvSpPr/>
          <p:nvPr/>
        </p:nvSpPr>
        <p:spPr>
          <a:xfrm>
            <a:off x="1234440" y="2121408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4" name="Image 3" descr="D:\Claude\meditrace-pitch\assets\s5-04-ghi-am-thanh-am-thanh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2295144"/>
            <a:ext cx="3035808" cy="18836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4507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Thu âm thời gian thực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22960" y="48280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PhoWhisper chép lời tại chỗ; thanh sóng âm trực quan.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93692" y="1975104"/>
            <a:ext cx="3383280" cy="3657600"/>
          </a:xfrm>
          <a:prstGeom prst="roundRect">
            <a:avLst>
              <a:gd name="adj" fmla="val 4324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357116" y="1901952"/>
            <a:ext cx="3383280" cy="36576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4530852" y="2112264"/>
            <a:ext cx="3108960" cy="2176272"/>
          </a:xfrm>
          <a:prstGeom prst="roundRect">
            <a:avLst>
              <a:gd name="adj" fmla="val 5042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4494276" y="2039112"/>
            <a:ext cx="3108960" cy="2176272"/>
          </a:xfrm>
          <a:prstGeom prst="roundRect">
            <a:avLst>
              <a:gd name="adj" fmla="val 5042"/>
            </a:avLst>
          </a:prstGeom>
          <a:solidFill>
            <a:srgbClr val="EEF3F8"/>
          </a:solidFill>
          <a:ln/>
        </p:spPr>
      </p:sp>
      <p:sp>
        <p:nvSpPr>
          <p:cNvPr id="31" name="Shape 25"/>
          <p:cNvSpPr/>
          <p:nvPr/>
        </p:nvSpPr>
        <p:spPr>
          <a:xfrm>
            <a:off x="4622292" y="2121408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2" name="Shape 26"/>
          <p:cNvSpPr/>
          <p:nvPr/>
        </p:nvSpPr>
        <p:spPr>
          <a:xfrm>
            <a:off x="4786884" y="2121408"/>
            <a:ext cx="91440" cy="9144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33" name="Shape 27"/>
          <p:cNvSpPr/>
          <p:nvPr/>
        </p:nvSpPr>
        <p:spPr>
          <a:xfrm>
            <a:off x="4951476" y="2121408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4" name="Image 4" descr="D:\Claude\meditrace-pitch\assets\s5-02-ca-mau-ban-nhap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852" y="2295144"/>
            <a:ext cx="3035808" cy="18836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539996" y="4507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Bản nháp theo chuẩn y tế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4539996" y="48280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mục Lý do khám, Bệnh sử, Tiền sử, Cần xác nhận.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110728" y="1975104"/>
            <a:ext cx="3383280" cy="3657600"/>
          </a:xfrm>
          <a:prstGeom prst="roundRect">
            <a:avLst>
              <a:gd name="adj" fmla="val 4324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8074152" y="1901952"/>
            <a:ext cx="3383280" cy="36576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39" name="Shape 32"/>
          <p:cNvSpPr/>
          <p:nvPr/>
        </p:nvSpPr>
        <p:spPr>
          <a:xfrm>
            <a:off x="8247888" y="2112264"/>
            <a:ext cx="3108960" cy="2176272"/>
          </a:xfrm>
          <a:prstGeom prst="roundRect">
            <a:avLst>
              <a:gd name="adj" fmla="val 5042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8211312" y="2039112"/>
            <a:ext cx="3108960" cy="2176272"/>
          </a:xfrm>
          <a:prstGeom prst="roundRect">
            <a:avLst>
              <a:gd name="adj" fmla="val 5042"/>
            </a:avLst>
          </a:prstGeom>
          <a:solidFill>
            <a:srgbClr val="EEF3F8"/>
          </a:solidFill>
          <a:ln/>
        </p:spPr>
      </p:sp>
      <p:sp>
        <p:nvSpPr>
          <p:cNvPr id="41" name="Shape 34"/>
          <p:cNvSpPr/>
          <p:nvPr/>
        </p:nvSpPr>
        <p:spPr>
          <a:xfrm>
            <a:off x="8339328" y="2121408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2" name="Shape 35"/>
          <p:cNvSpPr/>
          <p:nvPr/>
        </p:nvSpPr>
        <p:spPr>
          <a:xfrm>
            <a:off x="8503920" y="2121408"/>
            <a:ext cx="91440" cy="9144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43" name="Shape 36"/>
          <p:cNvSpPr/>
          <p:nvPr/>
        </p:nvSpPr>
        <p:spPr>
          <a:xfrm>
            <a:off x="8668512" y="2121408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44" name="Image 5" descr="D:\Claude\meditrace-pitch\assets\s5-05-tao-mau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7888" y="2295144"/>
            <a:ext cx="3035808" cy="188366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257032" y="4507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 cứu 11 nguồn y khoa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8257032" y="48280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Y tế, WHO, CDC, PubMed... ghi nguồn từng ý tham khảo.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640080" y="5696712"/>
            <a:ext cx="338328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40080" y="5696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được trên điện thoại thông minh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4357116" y="5696712"/>
            <a:ext cx="338328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4357116" y="5696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 mã mời bảo mật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8074152" y="5696712"/>
            <a:ext cx="338328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074152" y="5696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lưu tại chỗ (SQLite)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7274357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duyệt của Bác sĩ: Bản nháp &amp; Bằng chứng song song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dòng hồ sơ liên kết trực tiếp tới câu nói gốc của người bệnh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2020824"/>
            <a:ext cx="6400800" cy="3520440"/>
          </a:xfrm>
          <a:prstGeom prst="roundRect">
            <a:avLst>
              <a:gd name="adj" fmla="val 363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47672"/>
            <a:ext cx="640080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s5-duyet-crop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39112"/>
            <a:ext cx="6217920" cy="33375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926080" y="4370832"/>
            <a:ext cx="329184" cy="329184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1" name="Text 15"/>
          <p:cNvSpPr/>
          <p:nvPr/>
        </p:nvSpPr>
        <p:spPr>
          <a:xfrm>
            <a:off x="292608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114800" y="4782312"/>
            <a:ext cx="329184" cy="329184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3" name="Text 17"/>
          <p:cNvSpPr/>
          <p:nvPr/>
        </p:nvSpPr>
        <p:spPr>
          <a:xfrm>
            <a:off x="4114800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605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Câu nói gốc (Lượt 9, người nhà nói)   2 Mệnh đề nối tới lượt: “Nói về: Mẹ”.   Ảnh chụp giao diện thật với ca thử nghiệm.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223760" y="1947672"/>
            <a:ext cx="4297680" cy="1005840"/>
          </a:xfrm>
          <a:prstGeom prst="roundRect">
            <a:avLst>
              <a:gd name="adj" fmla="val 14545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223760" y="1947672"/>
            <a:ext cx="91440" cy="100584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27" name="Image 4" descr="D:\Claude\meditrace-pitch\assets\i5-LuCircleCheck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22199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9244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căn cứ xác thực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092440" y="2450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đưa vào thân bệnh án chính thức.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223760" y="3090672"/>
            <a:ext cx="4297680" cy="1005840"/>
          </a:xfrm>
          <a:prstGeom prst="roundRect">
            <a:avLst>
              <a:gd name="adj" fmla="val 14545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223760" y="3090672"/>
            <a:ext cx="91440" cy="1005840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pic>
        <p:nvPicPr>
          <p:cNvPr id="32" name="Image 5" descr="D:\Claude\meditrace-pitch\assets\i5-LuTriangleAlert-F6B7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336499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9244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rõ / Mâu thuẫn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092440" y="3593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Đưa vào mục “Cần xác nhận”, kèm lý do cảnh báo.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223760" y="4233672"/>
            <a:ext cx="4297680" cy="1005840"/>
          </a:xfrm>
          <a:prstGeom prst="roundRect">
            <a:avLst>
              <a:gd name="adj" fmla="val 14545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223760" y="4233672"/>
            <a:ext cx="91440" cy="100584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pic>
        <p:nvPicPr>
          <p:cNvPr id="37" name="Image 6" descr="D:\Claude\meditrace-pitch\assets\i5-LuHistory-94A3B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4507992"/>
            <a:ext cx="411480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092440" y="4370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bị thay thế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8092440" y="4736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dấu vết lịch sử, không đưa vào bệnh án hiện tại.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7223760" y="5468112"/>
            <a:ext cx="4297680" cy="59436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41" name="Text 32"/>
          <p:cNvSpPr/>
          <p:nvPr/>
        </p:nvSpPr>
        <p:spPr>
          <a:xfrm>
            <a:off x="7223760" y="54681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TOÀN QUYỀN: GIỮ · SỬA · BỎ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7880553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dữ liệu lâm sàng: 5.000 ca, 100 kịch bản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kiểm soát dữ liệu khoa học, cách ly tuyệt đối tập kiểm tra ngăn ngừa Data Leakage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2020824"/>
            <a:ext cx="5120640" cy="4023360"/>
          </a:xfrm>
          <a:prstGeom prst="roundRect">
            <a:avLst>
              <a:gd name="adj" fmla="val 363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47672"/>
            <a:ext cx="51206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21992"/>
            <a:ext cx="4846320" cy="33832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1947672"/>
            <a:ext cx="548640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0" y="1947672"/>
            <a:ext cx="109728" cy="10972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0" y="194767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3.759 ca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804672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Huấn luyện (Train)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046720" y="2450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kịch bản bệnh học — Dạy mô hình trích xuất mệnh đề cấu trúc.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035040" y="3182112"/>
            <a:ext cx="548640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35040" y="3182112"/>
            <a:ext cx="109728" cy="109728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27" name="Text 21"/>
          <p:cNvSpPr/>
          <p:nvPr/>
        </p:nvSpPr>
        <p:spPr>
          <a:xfrm>
            <a:off x="6309360" y="318211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 ca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804672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Phát triển (Dev)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046720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kịch bản — Dùng để hiệu chuẩn luật trạng thái và tối ưu hoá.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035040" y="4416552"/>
            <a:ext cx="5486400" cy="1097280"/>
          </a:xfrm>
          <a:prstGeom prst="roundRect">
            <a:avLst>
              <a:gd name="adj" fmla="val 1333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035040" y="4416552"/>
            <a:ext cx="109728" cy="1097280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sp>
        <p:nvSpPr>
          <p:cNvPr id="32" name="Text 26"/>
          <p:cNvSpPr/>
          <p:nvPr/>
        </p:nvSpPr>
        <p:spPr>
          <a:xfrm>
            <a:off x="6309360" y="441655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596 ca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8046720" y="4553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6B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Kiểm tra cuối (Test)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046720" y="4919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kịch bản — KHOÁ CHẶT HOÀN TOÀN, chỉ mở khi nghiệm thu đánh giá mù.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035040" y="5696712"/>
            <a:ext cx="54864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35040" y="56967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chia độc lập theo kịch bản bệnh học (Scenario-level split)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8486750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bóc tách: Chứng minh hiệu quả từng thành phần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5 nhánh kiến trúc thử nghiệm trên cùng một tập dữ liệu lâm sàng chuẩn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2020824"/>
            <a:ext cx="5120640" cy="4023360"/>
          </a:xfrm>
          <a:prstGeom prst="roundRect">
            <a:avLst>
              <a:gd name="adj" fmla="val 363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47672"/>
            <a:ext cx="51206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21992"/>
            <a:ext cx="4846320" cy="33832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1947672"/>
            <a:ext cx="5486400" cy="713232"/>
          </a:xfrm>
          <a:prstGeom prst="roundRect">
            <a:avLst>
              <a:gd name="adj" fmla="val 2051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0" y="1947672"/>
            <a:ext cx="91440" cy="7132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A (Baseline)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503920" y="203911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thẳng End-to-End bằng LLM (cách làm truyền thống).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035040" y="2724912"/>
            <a:ext cx="5486400" cy="713232"/>
          </a:xfrm>
          <a:prstGeom prst="roundRect">
            <a:avLst>
              <a:gd name="adj" fmla="val 2051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CFE3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35040" y="2724912"/>
            <a:ext cx="91440" cy="713232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6" name="Text 20"/>
          <p:cNvSpPr/>
          <p:nvPr/>
        </p:nvSpPr>
        <p:spPr>
          <a:xfrm>
            <a:off x="630936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B (Trích xuất rời)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50392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Trích xuất mệnh đề nhưng chưa có cơ chế quản lý trạng thái.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035040" y="3502152"/>
            <a:ext cx="5486400" cy="713232"/>
          </a:xfrm>
          <a:prstGeom prst="roundRect">
            <a:avLst>
              <a:gd name="adj" fmla="val 2051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35040" y="3502152"/>
            <a:ext cx="91440" cy="7132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0" name="Text 24"/>
          <p:cNvSpPr/>
          <p:nvPr/>
        </p:nvSpPr>
        <p:spPr>
          <a:xfrm>
            <a:off x="630936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C (+ Trạng thái)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503920" y="35935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liên kết thực thể và cập nhật trạng thái đính chính.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035040" y="4279392"/>
            <a:ext cx="5486400" cy="713232"/>
          </a:xfrm>
          <a:prstGeom prst="roundRect">
            <a:avLst>
              <a:gd name="adj" fmla="val 2051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035040" y="4279392"/>
            <a:ext cx="91440" cy="71323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34" name="Text 28"/>
          <p:cNvSpPr/>
          <p:nvPr/>
        </p:nvSpPr>
        <p:spPr>
          <a:xfrm>
            <a:off x="630936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C_khoa (+ Khóa)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503920" y="43708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Tầng 4 — Cổng kiểm tra căn cứ K1-K5.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035040" y="5056632"/>
            <a:ext cx="5486400" cy="713232"/>
          </a:xfrm>
          <a:prstGeom prst="roundRect">
            <a:avLst>
              <a:gd name="adj" fmla="val 20513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035040" y="5056632"/>
            <a:ext cx="91440" cy="713232"/>
          </a:xfrm>
          <a:prstGeom prst="roundRect">
            <a:avLst>
              <a:gd name="adj" fmla="val 50000"/>
            </a:avLst>
          </a:prstGeom>
          <a:solidFill>
            <a:srgbClr val="F6B73C"/>
          </a:solidFill>
          <a:ln/>
        </p:spPr>
      </p:sp>
      <p:sp>
        <p:nvSpPr>
          <p:cNvPr id="38" name="Text 32"/>
          <p:cNvSpPr/>
          <p:nvPr/>
        </p:nvSpPr>
        <p:spPr>
          <a:xfrm>
            <a:off x="6309360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B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C_khoa_hoi (Full)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8503920" y="51480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đầy đủ Tầng 5 &amp; 6 (Cộng rủi ro + Hỏi lại bác sĩ).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6035040" y="5879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 chứng minh: Mỗi tầng trong đường ống đều đóng góp giá trị khoa học đo lường được.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9092946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nghiệm: Triệt tiêu thông tin cũ từ 5,06% xuống 0,31%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Bằng chứng định lượng thép về tác dụng của logic trạng thái đính chính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1947672"/>
            <a:ext cx="5303520" cy="4023360"/>
          </a:xfrm>
          <a:prstGeom prst="roundRect">
            <a:avLst>
              <a:gd name="adj" fmla="val 3636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14400" y="2130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GIỮ THÔNG TIN ĐÃ BỊ NGƯỜI NÓI SỬA (%)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22960" y="2542032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20" name="Image 3" descr="D:\Claude\meditrace-pitch\assets\glow-teal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7132320" y="896112"/>
            <a:ext cx="3657600" cy="36576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17920" y="1947672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92240" y="2176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hơn 94% sai sót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6492240" y="267919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bổ sung luật trạng thái đính chính, tỷ lệ giữ thông tin lỗi thời rơi từ 5,06% xuống 0,31% trên 240 ca thực nghiệm.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17920" y="4005072"/>
            <a:ext cx="5303520" cy="1965960"/>
          </a:xfrm>
          <a:prstGeom prst="roundRect">
            <a:avLst>
              <a:gd name="adj" fmla="val 7442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pic>
        <p:nvPicPr>
          <p:cNvPr id="25" name="Image 4" descr="D:\Claude\meditrace-pitch\assets\i5-LuTriangleAlert-F6B7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187952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4187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B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trung thực trong nghiên cứu khoa học: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492240" y="45994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cổng kiểm tra giúp giảm lỗi nghiêm trọng từ 43,0% xuống 36,2%. Nhóm công khai ghi nhận: Tỷ lệ cảnh báo sang mục "Cần xác nhận" tăng lên để đảm bảo an toàn tối đa cho bác sĩ.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9699142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 dữ liệu y tế &amp; Triển khai On-Premise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cục bộ 100%, bảo vệ tuyệt đối bí mật bệnh nhân, không phụ thuộc đám mây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76656" y="2020824"/>
            <a:ext cx="5120640" cy="4023360"/>
          </a:xfrm>
          <a:prstGeom prst="roundRect">
            <a:avLst>
              <a:gd name="adj" fmla="val 3636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" y="1947672"/>
            <a:ext cx="5120640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</p:sp>
      <p:pic>
        <p:nvPicPr>
          <p:cNvPr id="19" name="Image 3" descr="D:\Claude\meditrace-pitch\assets\diag-h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21992"/>
            <a:ext cx="4846320" cy="33832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1947672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35040" y="1947672"/>
            <a:ext cx="73152" cy="89611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22" name="Image 4" descr="D:\Claude\meditrace-pitch\assets\i5-LuHardDrive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17627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122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tại chỗ 100% (On-Premise)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812280" y="23865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hành hoàn toàn trên GPU phòng khám (RTX 3060/4060). Dữ liệu âm thanh không bao giờ rời khỏi bệnh viện.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035040" y="2953512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035040" y="2953512"/>
            <a:ext cx="73152" cy="89611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27" name="Image 5" descr="D:\Claude\meditrace-pitch\assets\i5-LuShieldCheck-14B8C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18211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122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chẩn đoán, không kê đơn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vị rõ ràng là trợ lý thư ký số (Medical Scribe). Bác sĩ giữ quyền chuyên môn quyết định cao nhất.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035040" y="3959352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035040" y="3959352"/>
            <a:ext cx="73152" cy="89611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32" name="Image 6" descr="D:\Claude\meditrace-pitch\assets\i5-LuWifiOff-14B8C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187952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122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khi mất mạng Internet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6812280" y="4398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đường ống ASR và trích xuất chạy offline, phù hợp với cả trạm y tế vùng sâu vùng xa.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035040" y="4965192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035040" y="4965192"/>
            <a:ext cx="73152" cy="896112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pic>
        <p:nvPicPr>
          <p:cNvPr id="37" name="Image 7" descr="D:\Claude\meditrace-pitch\assets\i5-LuGitBranch-14B8C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5193792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1228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bạch &amp; Đạo đức AI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6812280" y="54041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Kê khai trung thực việc dùng AI hỗ trợ viết mã, mở toàn bộ mã nguồn kiểm toán trên GitHub.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10305339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96926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phát triển &amp; Thử nghiệm lâm sàng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kết quả phòng thí nghiệm tiến tới môi trường bệnh viện thực tế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3867912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04672" y="4032504"/>
            <a:ext cx="411480" cy="41148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19" name="Text 14"/>
          <p:cNvSpPr/>
          <p:nvPr/>
        </p:nvSpPr>
        <p:spPr>
          <a:xfrm>
            <a:off x="804672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20" name="Image 3" descr="D:\Claude\meditrace-pitch\assets\i5-LuDatabase-14B8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032504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5537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hội thoại khó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22960" y="5102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tạp âm phòng khám thật, hội thoại 3 người (bác sĩ, người bệnh, người nhà), nói chen lời.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843784" y="3456432"/>
            <a:ext cx="2057400" cy="2240280"/>
          </a:xfrm>
          <a:prstGeom prst="roundRect">
            <a:avLst>
              <a:gd name="adj" fmla="val 7111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008376" y="3621024"/>
            <a:ext cx="411480" cy="41148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5" name="Text 19"/>
          <p:cNvSpPr/>
          <p:nvPr/>
        </p:nvSpPr>
        <p:spPr>
          <a:xfrm>
            <a:off x="3008376" y="3621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26" name="Image 4" descr="D:\Claude\meditrace-pitch\assets\i5-LuUsers-14B8C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3621024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26664" y="41422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cao gán chủ thể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026664" y="469087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xử lý đại từ xưng hô đặc thù Bắc - Trung - Nam, phân biệt rõ người thân.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047488" y="3044952"/>
            <a:ext cx="2057400" cy="2651760"/>
          </a:xfrm>
          <a:prstGeom prst="roundRect">
            <a:avLst>
              <a:gd name="adj" fmla="val 7111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212080" y="3209544"/>
            <a:ext cx="411480" cy="41148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31" name="Text 24"/>
          <p:cNvSpPr/>
          <p:nvPr/>
        </p:nvSpPr>
        <p:spPr>
          <a:xfrm>
            <a:off x="52120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32" name="Image 5" descr="D:\Claude\meditrace-pitch\assets\i5-LuLockOpen-14B8C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3209544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30368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khóa tập Test 596 ca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5230368" y="4279392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hành đánh giá mù khách quan trên tập kiểm tra cuối đang khóa để công bố báo cáo.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7251192" y="2633472"/>
            <a:ext cx="2057400" cy="3063240"/>
          </a:xfrm>
          <a:prstGeom prst="roundRect">
            <a:avLst>
              <a:gd name="adj" fmla="val 7111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415784" y="2798064"/>
            <a:ext cx="411480" cy="411480"/>
          </a:xfrm>
          <a:prstGeom prst="ellipse">
            <a:avLst/>
          </a:prstGeom>
          <a:solidFill>
            <a:srgbClr val="F6B73C"/>
          </a:solidFill>
          <a:ln/>
        </p:spPr>
      </p:sp>
      <p:sp>
        <p:nvSpPr>
          <p:cNvPr id="37" name="Text 29"/>
          <p:cNvSpPr/>
          <p:nvPr/>
        </p:nvSpPr>
        <p:spPr>
          <a:xfrm>
            <a:off x="7415784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pic>
        <p:nvPicPr>
          <p:cNvPr id="38" name="Image 6" descr="D:\Claude\meditrace-pitch\assets\i5-LuTimer-F6B7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2798064"/>
            <a:ext cx="411480" cy="4114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434072" y="33192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nghiệm cùng Bác sĩ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7434072" y="3867912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lường thời gian duyệt thực tế của bác sĩ và tỷ lệ cảnh báo sai lệch trong buổi khám.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9454896" y="2221992"/>
            <a:ext cx="2057400" cy="3474720"/>
          </a:xfrm>
          <a:prstGeom prst="roundRect">
            <a:avLst>
              <a:gd name="adj" fmla="val 7111"/>
            </a:avLst>
          </a:prstGeom>
          <a:solidFill>
            <a:srgbClr val="0C284A">
              <a:alpha val="82000"/>
            </a:srgbClr>
          </a:solidFill>
          <a:ln w="19050">
            <a:solidFill>
              <a:srgbClr val="14B8C4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619488" y="2386584"/>
            <a:ext cx="411480" cy="41148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43" name="Text 34"/>
          <p:cNvSpPr/>
          <p:nvPr/>
        </p:nvSpPr>
        <p:spPr>
          <a:xfrm>
            <a:off x="9619488" y="2386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pic>
        <p:nvPicPr>
          <p:cNvPr id="44" name="Image 7" descr="D:\Claude\meditrace-pitch\assets\i5-LuLink-14B8C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2216" y="2386584"/>
            <a:ext cx="411480" cy="4114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637776" y="2907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chuẩn y tế HL7/FHIR</a:t>
            </a:r>
            <a:endParaRPr lang="en-US" sz="1500" dirty="0"/>
          </a:p>
        </p:txBody>
      </p:sp>
      <p:sp>
        <p:nvSpPr>
          <p:cNvPr id="46" name="Text 36"/>
          <p:cNvSpPr/>
          <p:nvPr/>
        </p:nvSpPr>
        <p:spPr>
          <a:xfrm>
            <a:off x="9637776" y="3456432"/>
            <a:ext cx="1691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trực tiếp vào phần mềm quản lý bệnh viện (HIS / EMR), chuyển giao công nghệ.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640080" y="5833872"/>
            <a:ext cx="10911535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B8C4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914400" y="5833872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tối thượng: Giảm tối đa thời gian giấy tờ nhưng bảo vệ an toàn cao nhất cho người bệnh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meditrace-pitch\assets\header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4" name="Shape 1"/>
          <p:cNvSpPr/>
          <p:nvPr/>
        </p:nvSpPr>
        <p:spPr>
          <a:xfrm>
            <a:off x="41148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5" name="Image 1" descr="D:\Claude\meditrace-pitch\assets\logo-dh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73" y="146304"/>
            <a:ext cx="56842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5880" y="164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ƯƠNG ĐOÀN THANH NIÊN CỘNG SẢN HỒ CHÍ MINH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25880" y="4389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Sáng tạo trẻ Quốc gia trong lĩnh vực Trí tuệ nhân tạo 2026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82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TRỰC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100" kern="0" dirty="0">
                <a:solidFill>
                  <a:srgbClr val="E6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789920" y="9144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0" name="Image 2" descr="D:\Claude\meditrace-pitch\assets\logo-cyt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332" y="146304"/>
            <a:ext cx="542984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6510528"/>
            <a:ext cx="10911535" cy="36576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6583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 SENTINEL · DỰ THI BẢNG B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180015" y="6583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1000" dirty="0"/>
          </a:p>
        </p:txBody>
      </p:sp>
      <p:pic>
        <p:nvPicPr>
          <p:cNvPr id="15" name="Image 3" descr="D:\Claude\meditrace-pitch\assets\glow-teal.png">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303520" y="256032"/>
            <a:ext cx="7315200" cy="7315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1170432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pic>
        <p:nvPicPr>
          <p:cNvPr id="17" name="Image 4" descr="D:\Claude\meditrace-pitch\assets\logo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1197864"/>
            <a:ext cx="1609344" cy="4937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19019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MediTrace</a:t>
            </a:r>
            <a:endParaRPr lang="en-US" sz="4800" dirty="0"/>
          </a:p>
        </p:txBody>
      </p:sp>
      <p:sp>
        <p:nvSpPr>
          <p:cNvPr id="19" name="Text 12"/>
          <p:cNvSpPr/>
          <p:nvPr/>
        </p:nvSpPr>
        <p:spPr>
          <a:xfrm>
            <a:off x="4114800" y="19019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4800" dirty="0"/>
          </a:p>
        </p:txBody>
      </p:sp>
      <p:sp>
        <p:nvSpPr>
          <p:cNvPr id="20" name="Text 13"/>
          <p:cNvSpPr/>
          <p:nvPr/>
        </p:nvSpPr>
        <p:spPr>
          <a:xfrm>
            <a:off x="640080" y="2816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dòng hồ sơ — Một bằng chứng</a:t>
            </a:r>
            <a:endParaRPr lang="en-US" sz="2400" dirty="0"/>
          </a:p>
        </p:txBody>
      </p:sp>
      <p:sp>
        <p:nvSpPr>
          <p:cNvPr id="21" name="Shape 14"/>
          <p:cNvSpPr/>
          <p:nvPr/>
        </p:nvSpPr>
        <p:spPr>
          <a:xfrm>
            <a:off x="640080" y="3547872"/>
            <a:ext cx="5212080" cy="2286000"/>
          </a:xfrm>
          <a:prstGeom prst="roundRect">
            <a:avLst>
              <a:gd name="adj" fmla="val 6400"/>
            </a:avLst>
          </a:prstGeom>
          <a:solidFill>
            <a:srgbClr val="0C284A">
              <a:alpha val="80000"/>
            </a:srgbClr>
          </a:solidFill>
          <a:ln w="12700">
            <a:solidFill>
              <a:srgbClr val="5BE0EA">
                <a:alpha val="3000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40080" y="3547872"/>
            <a:ext cx="5212080" cy="73152"/>
          </a:xfrm>
          <a:prstGeom prst="rect">
            <a:avLst/>
          </a:prstGeom>
          <a:solidFill>
            <a:srgbClr val="14B8C4"/>
          </a:solidFill>
          <a:ln/>
        </p:spPr>
      </p:sp>
      <p:sp>
        <p:nvSpPr>
          <p:cNvPr id="23" name="Text 16"/>
          <p:cNvSpPr/>
          <p:nvPr/>
        </p:nvSpPr>
        <p:spPr>
          <a:xfrm>
            <a:off x="914400" y="37307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KHOA HỌC CỐT LÕI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14400" y="409651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Tiên phong phương pháp Mệnh đề có cấu trúc chống ảo giác y tế.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Cơ chế Khóa bằng chứng K1-K5 truy vết nguyên văn câu nói gốc.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Triệt tiêu sai sót do lời tự sửa từ 5,06% xuống 0,31%.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triển khai On-Premise bảo mật dữ liệu sức khỏe.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126480" y="3547872"/>
            <a:ext cx="5394960" cy="2286000"/>
          </a:xfrm>
          <a:prstGeom prst="roundRect">
            <a:avLst>
              <a:gd name="adj" fmla="val 6400"/>
            </a:avLst>
          </a:prstGeom>
          <a:solidFill>
            <a:srgbClr val="0C284A">
              <a:alpha val="80000"/>
            </a:srgbClr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26480" y="3547872"/>
            <a:ext cx="5394960" cy="73152"/>
          </a:xfrm>
          <a:prstGeom prst="rect">
            <a:avLst/>
          </a:prstGeom>
          <a:solidFill>
            <a:srgbClr val="F6B73C"/>
          </a:solidFill>
          <a:ln/>
        </p:spPr>
      </p:sp>
      <p:sp>
        <p:nvSpPr>
          <p:cNvPr id="27" name="Text 20"/>
          <p:cNvSpPr/>
          <p:nvPr/>
        </p:nvSpPr>
        <p:spPr>
          <a:xfrm>
            <a:off x="6400800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B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 ĐẾN BAN GIÁM KHẢO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0" y="4096512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Chúng em mong muốn nhận được phản biện chuyên môn từ các bác sĩ và chuyên gia AI.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Đề tài hướng tới công nghệ phụng sự cộng đồng, giảm kiệt sức cho đội ngũ y bác sĩ Việt Nam.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Chúng em xin trân trọng cảm ơn Ban Giám khảo!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" y="601675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thi Aletheia</a:t>
            </a:r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Nguyễn Xuân Minh Quân  ·  Nguyễn Hoàng Anh  ·  Trường THPT Cầu Giấy, Hà Nội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MediTrace Sentinel — Thuyết trình Chi tiết Toàn diện Dự án</dc:title>
  <dc:subject>PptxGenJS Presentation</dc:subject>
  <dc:creator>Đội Aletheia — Nguyễn Xuân Minh Quân &amp; Nguyễn Hoàng Anh (THPT Cầu Giấy)</dc:creator>
  <cp:lastModifiedBy>Đội Aletheia — Nguyễn Xuân Minh Quân &amp; Nguyễn Hoàng Anh (THPT Cầu Giấy)</cp:lastModifiedBy>
  <cp:revision>1</cp:revision>
  <dcterms:created xsi:type="dcterms:W3CDTF">2026-10-05T08:37:55Z</dcterms:created>
  <dcterms:modified xsi:type="dcterms:W3CDTF">2026-10-05T08:37:55Z</dcterms:modified>
</cp:coreProperties>
</file>